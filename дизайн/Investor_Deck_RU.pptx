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TUMANOV GROUP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37160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 в недвижимость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Пхукета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 брокеров + AI-аналитика = безопасные инвестиции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сделок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346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опыта брокеров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4088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покупателя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КОМПАНИИ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мы и что делаем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Tumanov Group — не классическое агентство недвижимости, а инвестиционный консультант по рынку Пхукета. Наши брокеры-аналитики с опытом до 20 лет, усиленные AI-аналитикой, помогают клиентам безопасно вложить деньги, сохранить капитал в долларах и получить дом у моря.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06040"/>
          <a:ext cx="7680960" cy="219456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Обычное агентство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Tumanov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Продаёт квартиры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Консультирует по инвестициям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Показывает что есть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Подбирает под задачу клиента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Полагается на интуицию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Использует AI-аналитику рынка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Брокер-продавец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Брокер-аналитик (5-20 лет опыта)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Работает на комиссию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Защищает интересы покупателя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97280" cy="292608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Пхукет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647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рост цен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920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рост стоимости недвижимости в 2025 году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468880"/>
            <a:ext cx="411480" cy="41148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4203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туристов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25880" y="2697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туристов восстановился до пре-COVID уровня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1927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246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8-12% ROI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25880" y="3474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доходность от аренды в популярных районах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9651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$3,200-6,000/м²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25880" y="4251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цен — дешевле Бали и Дубая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0292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рынков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057400"/>
          <a:ext cx="3383280" cy="2468880"/>
        </p:xfrm>
        <a:graphic>
          <a:graphicData uri="http://schemas.openxmlformats.org/drawingml/2006/table">
            <a:tbl>
              <a:tblPr/>
              <a:tblGrid>
                <a:gridCol w="822960"/>
                <a:gridCol w="868680"/>
                <a:gridCol w="8686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Пхукет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Дубай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Вход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$100K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$200K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$150K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Рост цен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Кондо — да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Туризм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17M+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6M+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23" name="Text 1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Таиланд входит в топ-5 направлений для инвестиций в курортную недвижимость по версии Knight Frank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Районы Пхукета для инвестиций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1874520" cy="54864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Банг Тао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Премиум. Beach clubs, Laguna Phuket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Цена/м²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2697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$4,200/м²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9535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34107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2025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8308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38679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4069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88920" y="169164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88920" y="1691640"/>
            <a:ext cx="1874520" cy="54864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Камала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260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Тихий. Семьи, длительная аренда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Цена/м²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2697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$3,800/м²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29535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0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0" y="34107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0" y="38679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069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69164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1691640"/>
            <a:ext cx="1874520" cy="54864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Раваи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834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Бюджетный. Растущий потенциал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Цена/м²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97880" y="2697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$3,200/м²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83480" y="29535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97880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83480" y="34107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2025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9788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83480" y="38679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97880" y="4069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169164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903720" y="1691640"/>
            <a:ext cx="1874520" cy="54864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52" name="Text 50"/>
          <p:cNvSpPr/>
          <p:nvPr/>
        </p:nvSpPr>
        <p:spPr>
          <a:xfrm>
            <a:off x="704088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Лагуна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0408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Люкс. Гольф, 5-звёзд. отели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4088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Цена/м²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955280" y="2697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$5,500/м²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40880" y="29535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55280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40880" y="34107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2025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95528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40880" y="38679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4088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955280" y="4069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31520" y="4709160"/>
            <a:ext cx="7680960" cy="0"/>
          </a:xfrm>
          <a:prstGeom prst="rect">
            <a:avLst/>
          </a:prstGeom>
          <a:noFill/>
          <a:ln/>
        </p:spPr>
      </p:sp>
      <p:sp>
        <p:nvSpPr>
          <p:cNvPr id="66" name="Text 64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Банг Тао — район №1 по балансу доходности и загрузки. Рекомендуем как основной район для инвестиций.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столпа нашего подхода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2560320" cy="329184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645920"/>
            <a:ext cx="640080" cy="64008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7556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Брокеры-аналитики с опытом 5-20 лет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0584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закрытых сделок за 2 года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Знаем каждый проект на Пхукете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058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Спецусловия с ведущими девелоперами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66160" y="1417320"/>
            <a:ext cx="2560320" cy="329184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640080" cy="640080"/>
          </a:xfrm>
          <a:prstGeom prst="ellipse">
            <a:avLst/>
          </a:prstGeom>
          <a:solidFill>
            <a:srgbClr val="1B6B7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75564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84048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юридической чистоты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84048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рисков застройщика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84048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Можем отговорить если видим риск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84048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 после покупки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00800" y="1417320"/>
            <a:ext cx="2560320" cy="329184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0" y="1645920"/>
            <a:ext cx="640080" cy="640080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1755648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ТЕХНОЛОГИЧНОСТЬ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67512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AI-аналитика рынка и объектов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67512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подбор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67512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быстрые на рынке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67512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на данных, а не на интуиции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работаем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74520" y="2542032"/>
            <a:ext cx="320040" cy="0"/>
          </a:xfrm>
          <a:prstGeom prst="line">
            <a:avLst/>
          </a:prstGeom>
          <a:noFill/>
          <a:ln w="19050">
            <a:solidFill>
              <a:srgbClr val="E8E8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задачи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Понимаем ваши цели: инвестиция, жильё, портфель. 15-минутный зум-звонок.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945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269748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37744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11880" y="2542032"/>
            <a:ext cx="320040" cy="0"/>
          </a:xfrm>
          <a:prstGeom prst="line">
            <a:avLst/>
          </a:prstGeom>
          <a:noFill/>
          <a:ln w="19050">
            <a:solidFill>
              <a:srgbClr val="E8E8E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1945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AI-подбор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9456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 находят 3-5 лучших вариантов из 300+ объектов под вашу задачу.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931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443484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377440"/>
            <a:ext cx="320040" cy="3200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349240" y="2542032"/>
            <a:ext cx="320040" cy="0"/>
          </a:xfrm>
          <a:prstGeom prst="line">
            <a:avLst/>
          </a:prstGeom>
          <a:noFill/>
          <a:ln w="19050">
            <a:solidFill>
              <a:srgbClr val="E8E8E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9319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93192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застройщика, юр. чистоту, условия рассрочки, считаем реальный ROI.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6692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Shape 19"/>
          <p:cNvSpPr/>
          <p:nvPr/>
        </p:nvSpPr>
        <p:spPr>
          <a:xfrm>
            <a:off x="617220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77440"/>
            <a:ext cx="320040" cy="32004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086600" y="2542032"/>
            <a:ext cx="320040" cy="0"/>
          </a:xfrm>
          <a:prstGeom prst="line">
            <a:avLst/>
          </a:prstGeom>
          <a:noFill/>
          <a:ln w="19050">
            <a:solidFill>
              <a:srgbClr val="E8E8E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6692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Сделка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66928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Сопровождаем на каждом этапе: договор, оплата, регистрация. Всё прозрачно.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40664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30" name="Shape 24"/>
          <p:cNvSpPr/>
          <p:nvPr/>
        </p:nvSpPr>
        <p:spPr>
          <a:xfrm>
            <a:off x="790956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37744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066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покупки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40664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Помогаем с управлением, арендой, отчётностью. Мы рядом и после сделки.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объектов для инвестиций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4688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1097280" cy="22860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Популярный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— $180K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ROI: 8-12%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высокий ROI. Идеально для краткосрочной аренды. Быстрая окупаемость.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4023360"/>
            <a:ext cx="2194560" cy="3657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[ФОТО ОБЪЕКТА]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0" y="1691640"/>
            <a:ext cx="24688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1874520"/>
            <a:ext cx="1097280" cy="228600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Оптимальный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118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спальни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118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 — $400K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ROI: 7-10%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доходности и комфорта. Подходит для семей и долгосрочной аренды.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4023360"/>
            <a:ext cx="2194560" cy="3657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[ФОТО ОБЪЕКТА]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17920" y="1691640"/>
            <a:ext cx="24688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1874520"/>
            <a:ext cx="1097280" cy="2286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50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Виллы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 — $2M+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ROI: 5-8%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Премиум-класс. Высокий сезонный доход. Статусный актив для портфеля.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4023360"/>
            <a:ext cx="2194560" cy="3657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[ФОТО ОБЪЕКТА]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расчёта доходности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 32 м²  •  Банг Тао  •  $142,000  •  Рассрочка 30/30/40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768096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Низкий сезон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 сезон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(год)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Аренда / мес.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$600-700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$1,000-1,200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$800-900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Загрузка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65-70%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Доход / год (нетто)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$9,600-10,800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(от $142K)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6.8-7.6%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банк. депозит (5%)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+1.8-2.6%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297680"/>
            <a:ext cx="7680960" cy="6858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входа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65176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30/30/40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65176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Рассрочка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~7.2%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7200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ROI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роста за 2 года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97280" cy="29260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результаты клиентов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657600" cy="54864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1: Инвестор-рационал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Андрей, 42 года, предприниматель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Хотел сохранить $150K в зарубежном активе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Сделали: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 в Банг Тао, $138K, рассрочка 30/30/40. Полный анализ застройщика и района.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цены +20% ($165K). Аренда $850/мес. ROI: 9.2% в первый год.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23360"/>
            <a:ext cx="182880" cy="1828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023360"/>
            <a:ext cx="182880" cy="18288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23360"/>
            <a:ext cx="182880" cy="18288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023360"/>
            <a:ext cx="182880" cy="18288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02336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48840" y="4005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«Всё было прозрачно и профессионально»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754880" y="164592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645920"/>
            <a:ext cx="3657600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0" name="Text 13"/>
          <p:cNvSpPr/>
          <p:nvPr/>
        </p:nvSpPr>
        <p:spPr>
          <a:xfrm>
            <a:off x="493776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2: Семья у моря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93776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Михаил и Елена, 45 лет, IT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93776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Искали «зимовку» для семьи с 2 детьми, бюджет $250K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93776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Сделали: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спальни в Камале, $235K. Рядом школа BISP. Управляющая компания для аренды.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93776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Зимуют 4 мес/год. Остальное время — аренда $1,200/мес. ROI: 6.5%.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023360"/>
            <a:ext cx="182880" cy="18288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4023360"/>
            <a:ext cx="182880" cy="182880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4023360"/>
            <a:ext cx="182880" cy="182880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4023360"/>
            <a:ext cx="182880" cy="18288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0" y="402336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172200" y="4005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«Нашли идеальный вариант для семьи»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выбирают нас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5-20 лет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брокер — аналитик рынка, а не продавец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66160" y="141732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10" name="Shape 7"/>
          <p:cNvSpPr/>
          <p:nvPr/>
        </p:nvSpPr>
        <p:spPr>
          <a:xfrm>
            <a:off x="3749040" y="160020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AI-аналитика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4340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Находим лучшие объекты быстрее конкурентов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141732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15" name="Shape 11"/>
          <p:cNvSpPr/>
          <p:nvPr/>
        </p:nvSpPr>
        <p:spPr>
          <a:xfrm>
            <a:off x="6583680" y="160020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91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7804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инвестиций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7804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юр. чистоту и минимизируем риски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10896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832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комиссия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508760" y="3584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не платит комиссию — мы работаем с застройщиком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566160" y="310896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25" name="Shape 19"/>
          <p:cNvSpPr/>
          <p:nvPr/>
        </p:nvSpPr>
        <p:spPr>
          <a:xfrm>
            <a:off x="3749040" y="329184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3832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434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рынок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343400" y="3584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объектов от всех ведущих девелоперов острова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400800" y="310896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30" name="Shape 23"/>
          <p:cNvSpPr/>
          <p:nvPr/>
        </p:nvSpPr>
        <p:spPr>
          <a:xfrm>
            <a:off x="6583680" y="329184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3832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сопровождение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78040" y="3584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подбора до управления после покупки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покупки и оплаты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46888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2468880" cy="54864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874520"/>
            <a:ext cx="1463040" cy="22860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Рассрочка от застройщика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4320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процентов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2724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30/30/40 или 30/70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1129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483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период строительства (12-36 мес.)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первый взнос — от 20%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474720" y="1691640"/>
            <a:ext cx="246888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474720" y="1691640"/>
            <a:ext cx="2468880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0" name="Shape 14"/>
          <p:cNvSpPr/>
          <p:nvPr/>
        </p:nvSpPr>
        <p:spPr>
          <a:xfrm>
            <a:off x="3611880" y="1874520"/>
            <a:ext cx="1463040" cy="2286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1" name="Text 15"/>
          <p:cNvSpPr/>
          <p:nvPr/>
        </p:nvSpPr>
        <p:spPr>
          <a:xfrm>
            <a:off x="361188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Максимальная скидка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36118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оплата</a:t>
            </a:r>
            <a:endParaRPr lang="en-US" sz="14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743200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86200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3-5% от застройщика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127248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886200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выбор юнитов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511296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886200" y="3483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Приоритетный этаж и вид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3895344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88620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$4,000-15,000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6217920" y="1691640"/>
            <a:ext cx="246888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6217920" y="1691640"/>
            <a:ext cx="2468880" cy="54864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3" name="Shape 23"/>
          <p:cNvSpPr/>
          <p:nvPr/>
        </p:nvSpPr>
        <p:spPr>
          <a:xfrm>
            <a:off x="6355080" y="1874520"/>
            <a:ext cx="1463040" cy="228600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4" name="Text 24"/>
          <p:cNvSpPr/>
          <p:nvPr/>
        </p:nvSpPr>
        <p:spPr>
          <a:xfrm>
            <a:off x="635508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</a:t>
            </a:r>
            <a:endParaRPr lang="en-US" sz="800" dirty="0"/>
          </a:p>
        </p:txBody>
      </p:sp>
      <p:sp>
        <p:nvSpPr>
          <p:cNvPr id="35" name="Text 25"/>
          <p:cNvSpPr/>
          <p:nvPr/>
        </p:nvSpPr>
        <p:spPr>
          <a:xfrm>
            <a:off x="63550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 / Перевод</a:t>
            </a:r>
            <a:endParaRPr lang="en-US" sz="14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2743200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629400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Принимаем USDT/BTC</a:t>
            </a:r>
            <a:endParaRPr lang="en-US" sz="10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3127248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629400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Банковский перевод из любой страны</a:t>
            </a:r>
            <a:endParaRPr lang="en-US" sz="10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511296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629400" y="3483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Эскроу-счёт застройщика</a:t>
            </a:r>
            <a:endParaRPr lang="en-US" sz="10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3895344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62940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прозрачность платежей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280160" cy="292608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аналитики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брокер Tumanov Group — это аналитик рынка с опытом от 5 до 20 лет. Мы не набираем «менеджеров по продажам» — только экспертов, которые знают рынок Пхукета изнутри.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331720"/>
            <a:ext cx="1005840" cy="1005840"/>
          </a:xfrm>
          <a:prstGeom prst="ellipse">
            <a:avLst/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Николай Туманов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и CEO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Стратегия, видение, развитие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2331720"/>
            <a:ext cx="1005840" cy="1005840"/>
          </a:xfrm>
          <a:prstGeom prst="ellipse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[Имя аналитика]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аналитик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Опыт: 15+ лет, 80+ сделок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2331720"/>
            <a:ext cx="1005840" cy="1005840"/>
          </a:xfrm>
          <a:prstGeom prst="ellipse">
            <a:avLst/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[Имя аналитика]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Опыт: 10+ лет, 50+ сделок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52360" y="2331720"/>
            <a:ext cx="1005840" cy="1005840"/>
          </a:xfrm>
          <a:prstGeom prst="ellipse">
            <a:avLst/>
          </a:prstGeom>
          <a:solidFill>
            <a:srgbClr val="EBF5FB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08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[Имя аналитика]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Опыт: 5+ лет, 30+ сделок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Начните инвестировать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Пхукет сегодня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0" y="2057400"/>
            <a:ext cx="14630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2860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Запишитесь на бесплатную 15-минутную консультацию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персональным аналитиком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3200400"/>
            <a:ext cx="3657600" cy="54864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ЗАПИСАТЬСЯ НА КОНСУЛЬТАЦИЮ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0690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 XX XXX XXXX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0690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@tumanov_group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0690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6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info@tumanov.group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886200" y="4526280"/>
            <a:ext cx="548640" cy="54864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15" name="Text 10"/>
          <p:cNvSpPr/>
          <p:nvPr/>
        </p:nvSpPr>
        <p:spPr>
          <a:xfrm>
            <a:off x="388620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3200400" y="45720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tumanov.group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448056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@tumanov_group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актуальны на март 2026. Прогноз доходности основан на аналитике Tumanov Group и не является гарантией. Итоговые условия уточняйте у застройщика.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Tumanov Group — Инвестиции в недвижимость Пхукета</dc:title>
  <dc:subject>PptxGenJS Presentation</dc:subject>
  <dc:creator>Tumanov Group</dc:creator>
  <cp:lastModifiedBy>Tumanov Group</cp:lastModifiedBy>
  <cp:revision>1</cp:revision>
  <dcterms:created xsi:type="dcterms:W3CDTF">2026-03-14T11:24:00Z</dcterms:created>
  <dcterms:modified xsi:type="dcterms:W3CDTF">2026-03-14T11:24:00Z</dcterms:modified>
</cp:coreProperties>
</file>