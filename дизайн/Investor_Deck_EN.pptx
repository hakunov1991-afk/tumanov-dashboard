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TUMANOV GROUP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37160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Real Estate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brokers + AI analytics = safe, data-driven investments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closed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deal size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broker experience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commission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Tumanov Group is not a typical real estate agency — we are an investment consultancy focused on Phuket's property market. Our analyst-brokers with up to 20 years of experience, powered by AI analytics, help clients invest safely, preserve capital in USD, and secure their home by the sea.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06040"/>
          <a:ext cx="7680960" cy="219456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Tumanov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Sells apartments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investment consulting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available listings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properties to your goals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Relies on intuition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AI-powered market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Analyst-broker (5-20 years exp.)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commission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Protects buyer interests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Phuket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Price Growth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1920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property value increase in 2025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4203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Tourists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25880" y="2697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fully recovered to pre-COVID levels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927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246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 ROI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25880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rental yield in popular areas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965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$3,200-6,000/sqm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2588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affordable than Bali or Dubai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57400"/>
          <a:ext cx="3383280" cy="2468880"/>
        </p:xfrm>
        <a:graphic>
          <a:graphicData uri="http://schemas.openxmlformats.org/drawingml/2006/table">
            <a:tbl>
              <a:tblPr/>
              <a:tblGrid>
                <a:gridCol w="822960"/>
                <a:gridCol w="868680"/>
                <a:gridCol w="8686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Phuket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$200K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$150K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Condo — 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23" name="Text 1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ranks in the Top 5 resort property investment destinations (Knight Frank 2025)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Investment Districts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187452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 Tao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Premium. Beach clubs, Laguna Phuket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$4,200/sqm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830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889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Quiet. Families, long-term rental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$3,800/sqm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260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834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Budget. Growing potential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834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978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$3,200/sqm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78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834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978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834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978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03720" y="1691640"/>
            <a:ext cx="18745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03720" y="1691640"/>
            <a:ext cx="1874520" cy="54864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52" name="Text 50"/>
          <p:cNvSpPr/>
          <p:nvPr/>
        </p:nvSpPr>
        <p:spPr>
          <a:xfrm>
            <a:off x="70408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408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Luxury. Golf, 5-star hotels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40880" y="2697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Price/sqm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955280" y="2697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$5,500/sqm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40880" y="29535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40880" y="3154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95528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40880" y="34107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40880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955280" y="3611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40880" y="3867912"/>
            <a:ext cx="16002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40880" y="40690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55280" y="4069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 Tao — #1 district for ROI and occupancy balance. Our top recommendation for investors.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Three-Pillar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645920"/>
            <a:ext cx="640080" cy="64008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7556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Analyst-brokers with 5-20 years exp.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58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deals closed in 2 years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project on Phuket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058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developer terms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6616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640080" cy="640080"/>
          </a:xfrm>
          <a:prstGeom prst="ellipse">
            <a:avLst/>
          </a:prstGeom>
          <a:solidFill>
            <a:srgbClr val="1B6B7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75564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84048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due diligence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84048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risk assessment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8404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advise against risky deals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84048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support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0" y="1417320"/>
            <a:ext cx="2560320" cy="32918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0" y="1645920"/>
            <a:ext cx="640080" cy="640080"/>
          </a:xfrm>
          <a:prstGeom prst="ellipse">
            <a:avLst/>
          </a:prstGeom>
          <a:solidFill>
            <a:srgbClr val="C9A96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175564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6751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 analytics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67512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property matching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on the market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6751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based on data, not gut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77440"/>
            <a:ext cx="320040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7452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your goals: investment, lifestyle, portfolio. A quick 15-min Zoom call.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945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269748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37744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1188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945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9456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algorithms find 3-5 best options from 300+ properties tailored to your needs.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931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443484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377440"/>
            <a:ext cx="320040" cy="3200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34924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9319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93192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verify the developer, legal status, financing terms, and calculate real ROI.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6692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Shape 19"/>
          <p:cNvSpPr/>
          <p:nvPr/>
        </p:nvSpPr>
        <p:spPr>
          <a:xfrm>
            <a:off x="617220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77440"/>
            <a:ext cx="320040" cy="32004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086600" y="2542032"/>
            <a:ext cx="320040" cy="0"/>
          </a:xfrm>
          <a:prstGeom prst="line">
            <a:avLst/>
          </a:prstGeom>
          <a:noFill/>
          <a:ln w="19050">
            <a:solidFill>
              <a:srgbClr val="E8E8E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support at every step: contract, payment, registration. Fully transparent.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40664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Shape 24"/>
          <p:cNvSpPr/>
          <p:nvPr/>
        </p:nvSpPr>
        <p:spPr>
          <a:xfrm>
            <a:off x="7909560" y="2286000"/>
            <a:ext cx="502920" cy="502920"/>
          </a:xfrm>
          <a:prstGeom prst="ellipse">
            <a:avLst/>
          </a:prstGeom>
          <a:solidFill>
            <a:srgbClr val="1E2D3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37744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06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Purchase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0664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with management, rental, reporting. We're here long after the deal.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Types for Investment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1097280" cy="22860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— $180K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ROI: 8-12%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ROI. Ideal for short-term rental. Fastest payback period.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[PROPERTY PHOTO]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1874520"/>
            <a:ext cx="1097280" cy="228600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118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Bedrooms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 — $400K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ROI: 7-10%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yield and comfort. Great for families and long-term rental.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[PROPERTY PHOTO]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4688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1874520"/>
            <a:ext cx="1097280" cy="228600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55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— $2M+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ROI: 5-8%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class. High seasonal income. A prestigious portfolio asset.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[PROPERTY PHOTO]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Case Study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32 sqm  •  Bang Tao  •  $142,000  •  Installment 30/30/40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Season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Avg.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$600-700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$1,000-1,200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$800-900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65-70%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$9,600-10,800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(on $142K)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6.8-7.6%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bank deposit (5%)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8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+1.8-2.6%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97680"/>
            <a:ext cx="7680960" cy="6858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5176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30/30/40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517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Plan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~7.2%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43159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Growth Forecast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36576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Smart Investor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Andrey, 42, entrepreneur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to park $150K in overseas asset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in Bang Tao, $138K, 30/30/40 plan. Full developer and area analysis.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grew +20% ($165K). Rent $850/mo. ROI: 9.2% year one.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23360"/>
            <a:ext cx="182880" cy="1828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023360"/>
            <a:ext cx="182880" cy="18288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23360"/>
            <a:ext cx="182880" cy="18288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023360"/>
            <a:ext cx="182880" cy="18288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02336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4884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"Everything was transparent and professional"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754880" y="164592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645920"/>
            <a:ext cx="3657600" cy="54864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20" name="Text 13"/>
          <p:cNvSpPr/>
          <p:nvPr/>
        </p:nvSpPr>
        <p:spPr>
          <a:xfrm>
            <a:off x="493776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Expat Family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93776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&amp; Sarah, 44, tech industry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9377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winter base for family of 4, budget $250K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93776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2-bed in Kamala, $235K. Near BISP school. Property management included.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937760" y="3383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4 mo/yr. Rest rented at $1,200/mo. ROI: 6.5%.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023360"/>
            <a:ext cx="182880" cy="18288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4023360"/>
            <a:ext cx="182880" cy="18288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4023360"/>
            <a:ext cx="182880" cy="182880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4023360"/>
            <a:ext cx="182880" cy="18288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0" y="4023360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172200" y="4005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"Found the perfect setup for our family"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09728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 Years Exp.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broker is a market analyst, not a salesperson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4340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properties faster than any competitor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141732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5" name="Shape 11"/>
          <p:cNvSpPr/>
          <p:nvPr/>
        </p:nvSpPr>
        <p:spPr>
          <a:xfrm>
            <a:off x="6583680" y="160020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7804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verification and risk minimization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832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Buyer Fee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50876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buyer commission — we work with the developer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56616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25" name="Shape 19"/>
          <p:cNvSpPr/>
          <p:nvPr/>
        </p:nvSpPr>
        <p:spPr>
          <a:xfrm>
            <a:off x="374904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3832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4340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 Access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34340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properties from all leading island developers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0" y="3108960"/>
            <a:ext cx="2560320" cy="141732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30" name="Shape 23"/>
          <p:cNvSpPr/>
          <p:nvPr/>
        </p:nvSpPr>
        <p:spPr>
          <a:xfrm>
            <a:off x="6583680" y="3291840"/>
            <a:ext cx="457200" cy="457200"/>
          </a:xfrm>
          <a:prstGeom prst="ellipse">
            <a:avLst/>
          </a:prstGeom>
          <a:solidFill>
            <a:srgbClr val="0088C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3832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Full-Cycle Service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78040" y="3584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selection to post-purchase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solidFill>
            <a:srgbClr val="1B6B7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Phuket vs Other Markets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7452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28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Dubai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103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entry ($100K vs $200K+), higher yields (8-12% vs 5-7%), better lifestyle value. Freehold available for condos.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Bali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54480" y="31546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Freehold ownership possible (condos). Better infrastructure, international schools, modern healthcare. +23% market outperformance in 2025.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79476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EBF5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690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931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Europe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4206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property tax. No capital gains tax (under conditions). Significantly higher rental yields. Growing tourist market.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property market is one of the most accessible and high-yielding in Southeast Asia for foreign investors.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280160" cy="292608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Legal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offers clear legal pathways for foreign property investment. Here's what you need to know: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57400"/>
            <a:ext cx="54864" cy="10972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Freehold Condo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Foreigners can own condominium units freehold (up to 49% of building). Full ownership, transferable, inheritable.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05740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57400"/>
            <a:ext cx="54864" cy="10972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leasehold with renewal options (30+30+30). Common for villas and land. Registered at Land Department.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83280"/>
            <a:ext cx="54864" cy="10972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Structure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company ownership for villas/land. We work with top-tier law firms to ensure full compliance and protection.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383280"/>
            <a:ext cx="54864" cy="109728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Protection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through developer escrow accounts. EIA-approved projects only. All contracts reviewed by independent lawyers.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Phuket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0" y="2057400"/>
            <a:ext cx="1463040" cy="36576"/>
          </a:xfrm>
          <a:prstGeom prst="rect">
            <a:avLst/>
          </a:prstGeom>
          <a:solidFill>
            <a:srgbClr val="C9A96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860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15-minute consultation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personal analyst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solidFill>
            <a:srgbClr val="0088C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CONSULTATION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0690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 XX XXX XXXX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0690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@tumanov_group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0690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364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info@tumanov.group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886200" y="4526280"/>
            <a:ext cx="548640" cy="548640"/>
          </a:xfrm>
          <a:prstGeom prst="rect">
            <a:avLst/>
          </a:prstGeom>
          <a:solidFill>
            <a:srgbClr val="2A3F54"/>
          </a:solidFill>
          <a:ln/>
        </p:spPr>
      </p:sp>
      <p:sp>
        <p:nvSpPr>
          <p:cNvPr id="15" name="Text 10"/>
          <p:cNvSpPr/>
          <p:nvPr/>
        </p:nvSpPr>
        <p:spPr>
          <a:xfrm>
            <a:off x="388620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March 2026. Yield forecasts based on Tumanov Group analytics and are not guaranteed. Final terms subject to developer confirmation.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Tumanov Group — Phuket Real Estate Investment</dc:title>
  <dc:subject>PptxGenJS Presentation</dc:subject>
  <dc:creator>Tumanov Group</dc:creator>
  <cp:lastModifiedBy>Tumanov Group</cp:lastModifiedBy>
  <cp:revision>1</cp:revision>
  <dcterms:created xsi:type="dcterms:W3CDTF">2026-03-14T11:30:28Z</dcterms:created>
  <dcterms:modified xsi:type="dcterms:W3CDTF">2026-03-14T11:30:28Z</dcterms:modified>
</cp:coreProperties>
</file>